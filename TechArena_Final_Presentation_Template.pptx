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  <p:sldMasterId id="2147483893" r:id="rId5"/>
    <p:sldMasterId id="2147483899" r:id="rId6"/>
    <p:sldMasterId id="2147483915" r:id="rId7"/>
    <p:sldMasterId id="2147483918" r:id="rId8"/>
  </p:sldMasterIdLst>
  <p:notesMasterIdLst>
    <p:notesMasterId r:id="rId19"/>
  </p:notesMasterIdLst>
  <p:handoutMasterIdLst>
    <p:handoutMasterId r:id="rId20"/>
  </p:handoutMasterIdLst>
  <p:sldIdLst>
    <p:sldId id="256" r:id="rId9"/>
    <p:sldId id="2147475524" r:id="rId10"/>
    <p:sldId id="2147475525" r:id="rId11"/>
    <p:sldId id="2147475526" r:id="rId12"/>
    <p:sldId id="2147475527" r:id="rId13"/>
    <p:sldId id="2147475528" r:id="rId14"/>
    <p:sldId id="2147475529" r:id="rId15"/>
    <p:sldId id="2147475530" r:id="rId16"/>
    <p:sldId id="2147475531" r:id="rId17"/>
    <p:sldId id="280" r:id="rId18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idea" id="{FD05EE94-C931-8C4B-83A2-004B32AA1207}">
          <p14:sldIdLst>
            <p14:sldId id="256"/>
            <p14:sldId id="2147475524"/>
            <p14:sldId id="2147475525"/>
            <p14:sldId id="2147475526"/>
            <p14:sldId id="2147475527"/>
            <p14:sldId id="2147475528"/>
            <p14:sldId id="2147475529"/>
            <p14:sldId id="2147475530"/>
            <p14:sldId id="2147475531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rk Civici" initials="BC" lastIdx="3" clrIdx="0">
    <p:extLst>
      <p:ext uri="{19B8F6BF-5375-455C-9EA6-DF929625EA0E}">
        <p15:presenceInfo xmlns:p15="http://schemas.microsoft.com/office/powerpoint/2012/main" userId="S-1-5-21-147214757-305610072-1517763936-114820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E9002F"/>
    <a:srgbClr val="FFFFFF"/>
    <a:srgbClr val="595757"/>
    <a:srgbClr val="221815"/>
    <a:srgbClr val="888888"/>
    <a:srgbClr val="898989"/>
    <a:srgbClr val="B5B5B5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166" d="100"/>
          <a:sy n="166" d="100"/>
        </p:scale>
        <p:origin x="92" y="8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509023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08358191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59844188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7326F3-4732-B74B-9C70-D0992466E49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1219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574D7-3C37-4ABC-9A6E-9D4D09EEBB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219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862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1219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574D7-3C37-4ABC-9A6E-9D4D09EEBB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219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642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1219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574D7-3C37-4ABC-9A6E-9D4D09EEBB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219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343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1219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574D7-3C37-4ABC-9A6E-9D4D09EEBB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219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036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1219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574D7-3C37-4ABC-9A6E-9D4D09EEBB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219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208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1219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574D7-3C37-4ABC-9A6E-9D4D09EEBB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219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174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1219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574D7-3C37-4ABC-9A6E-9D4D09EEBB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219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281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1219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574D7-3C37-4ABC-9A6E-9D4D09EEBB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219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879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357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61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Ascend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165605" name="L 形 7"/>
          <p:cNvSpPr/>
          <p:nvPr userDrawn="1"/>
        </p:nvSpPr>
        <p:spPr bwMode="auto"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sz="900"/>
          </a:p>
        </p:txBody>
      </p:sp>
      <p:sp>
        <p:nvSpPr>
          <p:cNvPr id="455846413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</p:txBody>
      </p:sp>
      <p:sp>
        <p:nvSpPr>
          <p:cNvPr id="242895995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</p:txBody>
      </p:sp>
      <p:sp>
        <p:nvSpPr>
          <p:cNvPr id="1024827738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Arial"/>
                <a:ea typeface="Microsoft YaHei"/>
                <a:cs typeface="Arial"/>
              </a:defRPr>
            </a:lvl1pPr>
            <a:lvl2pPr marL="593900" indent="0" algn="ctr">
              <a:buNone/>
              <a:defRPr sz="2600"/>
            </a:lvl2pPr>
            <a:lvl3pPr marL="1187798" indent="0" algn="ctr">
              <a:buNone/>
              <a:defRPr sz="2350"/>
            </a:lvl3pPr>
            <a:lvl4pPr marL="1781699" indent="0" algn="ctr">
              <a:buNone/>
              <a:defRPr sz="2100"/>
            </a:lvl4pPr>
            <a:lvl5pPr marL="2375598" indent="0" algn="ctr">
              <a:buNone/>
              <a:defRPr sz="2100"/>
            </a:lvl5pPr>
            <a:lvl6pPr marL="2969497" indent="0" algn="ctr">
              <a:buNone/>
              <a:defRPr sz="2100"/>
            </a:lvl6pPr>
            <a:lvl7pPr marL="3563396" indent="0" algn="ctr">
              <a:buNone/>
              <a:defRPr sz="2100"/>
            </a:lvl7pPr>
            <a:lvl8pPr marL="4157297" indent="0" algn="ctr">
              <a:buNone/>
              <a:defRPr sz="2100"/>
            </a:lvl8pPr>
            <a:lvl9pPr marL="4751195" indent="0" algn="ctr">
              <a:buNone/>
              <a:defRPr sz="21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375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25105" y="284734"/>
            <a:ext cx="11346556" cy="840544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0" marR="0" indent="0" algn="l" defTabSz="121899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9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 marL="6094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32pt </a:t>
            </a:r>
            <a:r>
              <a:rPr lang="zh-CN" altLang="en-US" dirty="0"/>
              <a:t>，左对齐，只放一行</a:t>
            </a:r>
          </a:p>
        </p:txBody>
      </p:sp>
    </p:spTree>
    <p:extLst>
      <p:ext uri="{BB962C8B-B14F-4D97-AF65-F5344CB8AC3E}">
        <p14:creationId xmlns:p14="http://schemas.microsoft.com/office/powerpoint/2010/main" val="2978686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华为红 - 28 - 粗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25105" y="284736"/>
            <a:ext cx="11346556" cy="624569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0" marR="0" indent="0" algn="l" defTabSz="121899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99" b="1" baseline="0">
                <a:solidFill>
                  <a:srgbClr val="C00000"/>
                </a:solidFill>
                <a:latin typeface="+mn-ea"/>
                <a:ea typeface="+mn-ea"/>
              </a:defRPr>
            </a:lvl1pPr>
            <a:lvl2pPr marL="6094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28pt </a:t>
            </a:r>
            <a:r>
              <a:rPr lang="zh-CN" altLang="en-US" dirty="0"/>
              <a:t>，左对齐，只放一行</a:t>
            </a:r>
          </a:p>
        </p:txBody>
      </p:sp>
    </p:spTree>
    <p:extLst>
      <p:ext uri="{BB962C8B-B14F-4D97-AF65-F5344CB8AC3E}">
        <p14:creationId xmlns:p14="http://schemas.microsoft.com/office/powerpoint/2010/main" val="39782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31" y="369039"/>
            <a:ext cx="10180910" cy="745782"/>
          </a:xfrm>
          <a:prstGeom prst="rect">
            <a:avLst/>
          </a:prstGeom>
        </p:spPr>
        <p:txBody>
          <a:bodyPr lIns="68558" tIns="34279" rIns="68558" bIns="34279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3672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FB6D-0E39-4A59-88EC-2B5675D08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F46B6-280C-48E0-B41F-73941A571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EF2D7-9FEF-40B0-8697-3C6C63A43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D83FB-E9D4-402D-BAF6-99F7B1214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68292-78CC-4842-9F3A-2DBB1A4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59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C3CE-8030-4410-A97F-A439C9B8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C141-DB87-4010-AF8B-B17B19332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718B9-AF77-4A51-B5BB-DBA3C89F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53523-AC49-4E89-8DD5-39919DD2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B29EE-6D55-46B9-B66A-43D49258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91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A6C84-C558-4286-AD5C-79903F1E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75" y="1709739"/>
            <a:ext cx="1051970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81437-65F0-4BD4-B2F2-908F9BD79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175" y="4589464"/>
            <a:ext cx="105197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0BDA1-2255-4C91-8464-8CB6B6B5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274E4-D3E8-42AB-A4C1-E9F520F5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620AA-092B-4816-AFCA-9B2DD410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36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EDEF-BAB8-49B3-AFE5-C8857605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4D764-3682-4E67-8BBB-572470E64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528" y="1825625"/>
            <a:ext cx="51836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191B8-2693-41B8-8E67-030008ABE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4611" y="1825625"/>
            <a:ext cx="51836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C9FC0-A7B8-4414-9C66-EB1E55557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7D435-5C69-4E17-89E5-9A3247AC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230D9-715C-4EE7-8FA9-083BF2AC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01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26E0-6ADF-4AD8-A54B-92ABE7CF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16" y="365126"/>
            <a:ext cx="1051970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98A3F-BD00-4D53-89A4-1D8990048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117" y="1681163"/>
            <a:ext cx="51598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DA656-1A5D-44A6-9881-1BF6B405D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117" y="2505075"/>
            <a:ext cx="51598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8C0442-2B42-42CF-98B3-7943A288D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4611" y="1681163"/>
            <a:ext cx="51852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EB591-DC68-4357-837B-F5BBFD0DA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4611" y="2505075"/>
            <a:ext cx="518521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84F77-5B29-4415-9A0E-EFBA889C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91357-7304-4BF0-9E4E-AD2A0D3E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24346D-E01F-425B-AAD2-CEC659B4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90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FFC5-3ECA-4915-8068-12EBB016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F972-C1D9-4C6E-85DF-C33663B1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16943-BCC8-4318-AF4F-992EE934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7C0DB-A7BE-4AD4-AB46-DCFED2CB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48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5AB77-B608-4D1E-85DF-7E8EC9E7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C4631-D101-4951-8BAB-F901488C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029FE-6C06-4FE7-9507-A3A69C7A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72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9B6B-B3CE-45AC-8B8B-DB094092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B671E-7B98-4D8E-B3AB-792148BC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65765-4121-44C2-8582-D2238C791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FAE86-2717-4946-9E7A-7EBA5A0F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5E219-7B5A-4FA3-9978-2369B328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03895-40A3-4672-9EE7-D91E2BE4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79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B342-9B08-4711-95A8-C4082D72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54ECB-07F1-42BC-A85C-C0C67A9B9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AD690-9375-4F64-8654-353686A47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70BA1-E0B1-4FEC-9FD3-EEEB5EF8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D066D-8240-4F92-9A83-270A2B923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CD5DF-4306-404A-AEC0-169FF1A8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67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8A64-4330-45F7-8F7B-5F88FDA7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655FA-6492-47D2-AEDD-AC4221D85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37663-1235-44FD-9212-22BDD825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680D2-5085-46B5-B390-7BD65F1A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64728-717B-4D34-BFF4-C7FDEA6D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95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19EE75-A5BA-4973-89E9-57DF2C6C6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8309" y="365125"/>
            <a:ext cx="262992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32520-DAA2-44D5-95F3-AAE5383C3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527" y="365125"/>
            <a:ext cx="77373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15AF5-5B6D-420E-B8E3-19B35623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1019E-583E-4CEA-81F3-9A422819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58BA9-5380-44D1-94BA-11EEC69A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947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9211" y="9"/>
            <a:ext cx="10757901" cy="713013"/>
          </a:xfrm>
          <a:prstGeom prst="rect">
            <a:avLst/>
          </a:prstGeom>
        </p:spPr>
        <p:txBody>
          <a:bodyPr lIns="80279" tIns="40140" rIns="80279" bIns="4014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29211" y="1021903"/>
            <a:ext cx="10757901" cy="5104039"/>
          </a:xfrm>
          <a:prstGeom prst="rect">
            <a:avLst/>
          </a:prstGeom>
        </p:spPr>
        <p:txBody>
          <a:bodyPr lIns="80279" tIns="40140" rIns="80279" bIns="40140"/>
          <a:lstStyle/>
          <a:p>
            <a:pPr lvl="0"/>
            <a:endParaRPr lang="zh-CN" altLang="en-US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7909221" y="6400804"/>
            <a:ext cx="1409831" cy="1102179"/>
          </a:xfrm>
          <a:prstGeom prst="rect">
            <a:avLst/>
          </a:prstGeom>
          <a:ln/>
        </p:spPr>
        <p:txBody>
          <a:bodyPr lIns="80279" tIns="40140" rIns="80279" bIns="40140"/>
          <a:lstStyle>
            <a:lvl1pPr>
              <a:defRPr/>
            </a:lvl1pPr>
          </a:lstStyle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Page </a:t>
            </a:r>
            <a:fld id="{FB7D5714-6238-40ED-B8B0-BC8B8C37C8CC}" type="slidenum">
              <a:rPr lang="de-DE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99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tiff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09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7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8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7" r:id="rId2"/>
    <p:sldLayoutId id="2147483898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6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7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7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45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</p:sldLayoutIdLst>
  <p:txStyles>
    <p:titleStyle>
      <a:lvl1pPr algn="ctr" defTabSz="1218996" rtl="0" eaLnBrk="1" latinLnBrk="0" hangingPunct="1">
        <a:spcBef>
          <a:spcPct val="0"/>
        </a:spcBef>
        <a:buNone/>
        <a:defRPr sz="5898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24" indent="-457124" algn="l" defTabSz="1218996" rtl="0" eaLnBrk="1" latinLnBrk="0" hangingPunct="1">
        <a:spcBef>
          <a:spcPct val="20000"/>
        </a:spcBef>
        <a:buFont typeface="Arial" pitchFamily="34" charset="0"/>
        <a:buChar char="•"/>
        <a:defRPr sz="4299" kern="1200">
          <a:solidFill>
            <a:schemeClr val="bg1"/>
          </a:solidFill>
          <a:latin typeface="+mn-lt"/>
          <a:ea typeface="+mn-ea"/>
          <a:cs typeface="+mn-cs"/>
        </a:defRPr>
      </a:lvl1pPr>
      <a:lvl2pPr marL="990434" indent="-380937" algn="l" defTabSz="1218996" rtl="0" eaLnBrk="1" latinLnBrk="0" hangingPunct="1">
        <a:spcBef>
          <a:spcPct val="20000"/>
        </a:spcBef>
        <a:buFont typeface="Arial" pitchFamily="34" charset="0"/>
        <a:buChar char="–"/>
        <a:defRPr sz="3699" kern="1200">
          <a:solidFill>
            <a:schemeClr val="bg1"/>
          </a:solidFill>
          <a:latin typeface="+mn-lt"/>
          <a:ea typeface="+mn-ea"/>
          <a:cs typeface="+mn-cs"/>
        </a:defRPr>
      </a:lvl2pPr>
      <a:lvl3pPr marL="1523746" indent="-304750" algn="l" defTabSz="1218996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bg1"/>
          </a:solidFill>
          <a:latin typeface="+mn-lt"/>
          <a:ea typeface="+mn-ea"/>
          <a:cs typeface="+mn-cs"/>
        </a:defRPr>
      </a:lvl3pPr>
      <a:lvl4pPr marL="2133244" indent="-304750" algn="l" defTabSz="1218996" rtl="0" eaLnBrk="1" latinLnBrk="0" hangingPunct="1">
        <a:spcBef>
          <a:spcPct val="20000"/>
        </a:spcBef>
        <a:buFont typeface="Arial" pitchFamily="34" charset="0"/>
        <a:buChar char="–"/>
        <a:defRPr sz="2699" kern="1200">
          <a:solidFill>
            <a:schemeClr val="bg1"/>
          </a:solidFill>
          <a:latin typeface="+mn-lt"/>
          <a:ea typeface="+mn-ea"/>
          <a:cs typeface="+mn-cs"/>
        </a:defRPr>
      </a:lvl4pPr>
      <a:lvl5pPr marL="2742743" indent="-304750" algn="l" defTabSz="1218996" rtl="0" eaLnBrk="1" latinLnBrk="0" hangingPunct="1">
        <a:spcBef>
          <a:spcPct val="20000"/>
        </a:spcBef>
        <a:buFont typeface="Arial" pitchFamily="34" charset="0"/>
        <a:buChar char="»"/>
        <a:defRPr sz="2699" kern="1200">
          <a:solidFill>
            <a:schemeClr val="bg1"/>
          </a:solidFill>
          <a:latin typeface="+mn-lt"/>
          <a:ea typeface="+mn-ea"/>
          <a:cs typeface="+mn-cs"/>
        </a:defRPr>
      </a:lvl5pPr>
      <a:lvl6pPr marL="3352242" indent="-304750" algn="l" defTabSz="1218996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1738" indent="-304750" algn="l" defTabSz="1218996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71237" indent="-304750" algn="l" defTabSz="1218996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0735" indent="-304750" algn="l" defTabSz="1218996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99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996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495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993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492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990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488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987" algn="l" defTabSz="121899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3"/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5999" y="6319872"/>
            <a:ext cx="1269076" cy="27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030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6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7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7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430AA5-8E05-424A-90FF-34F7ADA7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2E5DE-88C2-49CC-9108-A55CA6701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54D2B-E384-4DB7-BDB3-922D2F909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FFFD5-6598-4FC8-991B-B7858E8AC7B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CE74E-D629-4197-8033-E5748351C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DD57A-DB4B-405F-B3A7-ECBE818B7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CE403-9C55-4A29-8334-AEF6A2339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120725" name="Text Placeholder 5"/>
          <p:cNvSpPr>
            <a:spLocks noGrp="1"/>
          </p:cNvSpPr>
          <p:nvPr>
            <p:ph type="body" sz="quarter" idx="10"/>
          </p:nvPr>
        </p:nvSpPr>
        <p:spPr bwMode="auto">
          <a:xfrm>
            <a:off x="466585" y="1554423"/>
            <a:ext cx="7933495" cy="114845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sz="1800" b="1" noProof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Team Name</a:t>
            </a:r>
            <a:r>
              <a:rPr lang="en-GB" sz="1800" noProof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endParaRPr lang="en-GB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  <a:defRPr/>
            </a:pPr>
            <a:r>
              <a:rPr lang="en-GB" sz="1800" b="1" noProof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Team Members and University:</a:t>
            </a:r>
            <a:endParaRPr lang="en-GB" sz="1800" noProof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1607745" name="副标题 2"/>
          <p:cNvSpPr>
            <a:spLocks noGrp="1"/>
          </p:cNvSpPr>
          <p:nvPr>
            <p:ph type="subTitle" idx="1"/>
          </p:nvPr>
        </p:nvSpPr>
        <p:spPr bwMode="auto">
          <a:xfrm>
            <a:off x="466585" y="445950"/>
            <a:ext cx="11396962" cy="81386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2400" b="1" noProof="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TechArena</a:t>
            </a:r>
            <a:r>
              <a:rPr lang="en-GB" sz="2400" b="1" noProof="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2026 – Final Presentation </a:t>
            </a:r>
          </a:p>
          <a:p>
            <a:pPr>
              <a:defRPr/>
            </a:pPr>
            <a:r>
              <a:rPr lang="en-GB" sz="2400" b="1" noProof="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Challenge 1 &amp; Challenge 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="" xmlns:m="http://schemas.openxmlformats.org/officeDocument/2006/math" xmlns:w="http://schemas.openxmlformats.org/wordprocessingml/2006/main"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0946" y="331888"/>
            <a:ext cx="9039446" cy="45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0171" tIns="40085" rIns="80171" bIns="40085" anchor="t">
            <a:spAutoFit/>
          </a:bodyPr>
          <a:lstStyle/>
          <a:p>
            <a:pPr defTabSz="1218508">
              <a:spcBef>
                <a:spcPct val="20000"/>
              </a:spcBef>
              <a:defRPr/>
            </a:pPr>
            <a:r>
              <a:rPr lang="en-US" altLang="en-US" sz="2399" b="1" dirty="0">
                <a:solidFill>
                  <a:srgbClr val="C00000"/>
                </a:solidFill>
                <a:latin typeface="微软雅黑"/>
                <a:ea typeface="微软雅黑"/>
              </a:rPr>
              <a:t>Summary</a:t>
            </a:r>
            <a:endParaRPr lang="en-US" altLang="zh-CN" sz="2399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6CE96-651B-40CF-B435-2A254C2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09" y="6340382"/>
            <a:ext cx="1422464" cy="3723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D48095-63B6-4810-8865-58AF6D60B00A}"/>
              </a:ext>
            </a:extLst>
          </p:cNvPr>
          <p:cNvSpPr txBox="1"/>
          <p:nvPr/>
        </p:nvSpPr>
        <p:spPr>
          <a:xfrm>
            <a:off x="2536599" y="1320842"/>
            <a:ext cx="6098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&lt;Main approach and strongest results across both challenges&gt;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E806C-0FCB-4912-AEC9-EFED71FAA94C}"/>
              </a:ext>
            </a:extLst>
          </p:cNvPr>
          <p:cNvSpPr txBox="1"/>
          <p:nvPr/>
        </p:nvSpPr>
        <p:spPr>
          <a:xfrm>
            <a:off x="1143767" y="2291091"/>
            <a:ext cx="10230567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/>
              <a:t>Presentation Guidelines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final presentation must cover the team's methods and key results from both Challenge 1 and Challenge 2.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total presentation time must not exceed 15 minutes.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Teams may organize the presentation according to their own technical story. The slide structure provided in this template is recommended and may be adapted where appropriate.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Focus on the most important methodology, quantitative results, technical innovation, key insights, and limitations.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Keep detailed supporting material in backup slides if needed.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Remove this instruction slide before final submission.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0946" y="331888"/>
            <a:ext cx="9039446" cy="45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0171" tIns="40085" rIns="80171" bIns="40085" anchor="t">
            <a:spAutoFit/>
          </a:bodyPr>
          <a:lstStyle/>
          <a:p>
            <a:pPr defTabSz="1218508">
              <a:spcBef>
                <a:spcPct val="20000"/>
              </a:spcBef>
              <a:defRPr/>
            </a:pPr>
            <a:r>
              <a:rPr lang="en-US" altLang="en-US" sz="2399" b="1" dirty="0">
                <a:solidFill>
                  <a:srgbClr val="C00000"/>
                </a:solidFill>
                <a:latin typeface="微软雅黑"/>
                <a:ea typeface="微软雅黑"/>
              </a:rPr>
              <a:t>Challenge 1 – Methodology</a:t>
            </a:r>
            <a:endParaRPr lang="en-US" altLang="zh-CN" sz="2399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6CE96-651B-40CF-B435-2A254C2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09" y="6340382"/>
            <a:ext cx="1422464" cy="3723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D48095-63B6-4810-8865-58AF6D60B00A}"/>
              </a:ext>
            </a:extLst>
          </p:cNvPr>
          <p:cNvSpPr txBox="1"/>
          <p:nvPr/>
        </p:nvSpPr>
        <p:spPr>
          <a:xfrm>
            <a:off x="2536598" y="1320842"/>
            <a:ext cx="7403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&lt;Dataset, approach, features, model/method, important technical decisions&gt;</a:t>
            </a:r>
          </a:p>
        </p:txBody>
      </p:sp>
    </p:spTree>
    <p:extLst>
      <p:ext uri="{BB962C8B-B14F-4D97-AF65-F5344CB8AC3E}">
        <p14:creationId xmlns:p14="http://schemas.microsoft.com/office/powerpoint/2010/main" val="359310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0946" y="331888"/>
            <a:ext cx="9039446" cy="45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0171" tIns="40085" rIns="80171" bIns="40085" anchor="t">
            <a:spAutoFit/>
          </a:bodyPr>
          <a:lstStyle/>
          <a:p>
            <a:pPr defTabSz="1218508">
              <a:spcBef>
                <a:spcPct val="20000"/>
              </a:spcBef>
              <a:defRPr/>
            </a:pPr>
            <a:r>
              <a:rPr lang="en-US" altLang="en-US" sz="2399" b="1" dirty="0">
                <a:solidFill>
                  <a:srgbClr val="C00000"/>
                </a:solidFill>
                <a:latin typeface="微软雅黑"/>
                <a:ea typeface="微软雅黑"/>
              </a:rPr>
              <a:t>Challenge 1 – Results</a:t>
            </a:r>
            <a:endParaRPr lang="en-US" altLang="zh-CN" sz="2399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6CE96-651B-40CF-B435-2A254C2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09" y="6340382"/>
            <a:ext cx="1422464" cy="3723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D48095-63B6-4810-8865-58AF6D60B00A}"/>
              </a:ext>
            </a:extLst>
          </p:cNvPr>
          <p:cNvSpPr txBox="1"/>
          <p:nvPr/>
        </p:nvSpPr>
        <p:spPr>
          <a:xfrm>
            <a:off x="2480952" y="1480640"/>
            <a:ext cx="723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&lt;Main results including all training, validation and testing, key findings&gt;</a:t>
            </a:r>
          </a:p>
        </p:txBody>
      </p:sp>
    </p:spTree>
    <p:extLst>
      <p:ext uri="{BB962C8B-B14F-4D97-AF65-F5344CB8AC3E}">
        <p14:creationId xmlns:p14="http://schemas.microsoft.com/office/powerpoint/2010/main" val="1499570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0946" y="331888"/>
            <a:ext cx="9039446" cy="45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0171" tIns="40085" rIns="80171" bIns="40085" anchor="t">
            <a:spAutoFit/>
          </a:bodyPr>
          <a:lstStyle/>
          <a:p>
            <a:pPr defTabSz="1218508">
              <a:spcBef>
                <a:spcPct val="20000"/>
              </a:spcBef>
              <a:defRPr/>
            </a:pPr>
            <a:r>
              <a:rPr lang="en-US" altLang="en-US" sz="2399" b="1" dirty="0">
                <a:solidFill>
                  <a:srgbClr val="C00000"/>
                </a:solidFill>
                <a:latin typeface="微软雅黑"/>
                <a:ea typeface="微软雅黑"/>
              </a:rPr>
              <a:t>Challenge 2 – Methodology</a:t>
            </a:r>
            <a:endParaRPr lang="en-US" altLang="zh-CN" sz="2399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6CE96-651B-40CF-B435-2A254C2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09" y="6340382"/>
            <a:ext cx="1422464" cy="3723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D48095-63B6-4810-8865-58AF6D60B00A}"/>
              </a:ext>
            </a:extLst>
          </p:cNvPr>
          <p:cNvSpPr txBox="1"/>
          <p:nvPr/>
        </p:nvSpPr>
        <p:spPr>
          <a:xfrm>
            <a:off x="2536598" y="1320842"/>
            <a:ext cx="7403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&lt;Dataset, approach, features, model/method, important technical decisions&gt;</a:t>
            </a:r>
          </a:p>
        </p:txBody>
      </p:sp>
    </p:spTree>
    <p:extLst>
      <p:ext uri="{BB962C8B-B14F-4D97-AF65-F5344CB8AC3E}">
        <p14:creationId xmlns:p14="http://schemas.microsoft.com/office/powerpoint/2010/main" val="2202046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0946" y="331888"/>
            <a:ext cx="9039446" cy="45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0171" tIns="40085" rIns="80171" bIns="40085" anchor="t">
            <a:spAutoFit/>
          </a:bodyPr>
          <a:lstStyle/>
          <a:p>
            <a:pPr defTabSz="1218508">
              <a:spcBef>
                <a:spcPct val="20000"/>
              </a:spcBef>
              <a:defRPr/>
            </a:pPr>
            <a:r>
              <a:rPr lang="en-US" altLang="en-US" sz="2399" b="1" dirty="0">
                <a:solidFill>
                  <a:srgbClr val="C00000"/>
                </a:solidFill>
                <a:latin typeface="微软雅黑"/>
                <a:ea typeface="微软雅黑"/>
              </a:rPr>
              <a:t>Challenge 2 – Results</a:t>
            </a:r>
            <a:endParaRPr lang="en-US" altLang="zh-CN" sz="2399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6CE96-651B-40CF-B435-2A254C2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09" y="6340382"/>
            <a:ext cx="1422464" cy="372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B7F4E4-EB67-4C8B-86CC-559C066A907E}"/>
              </a:ext>
            </a:extLst>
          </p:cNvPr>
          <p:cNvSpPr txBox="1"/>
          <p:nvPr/>
        </p:nvSpPr>
        <p:spPr>
          <a:xfrm>
            <a:off x="2480952" y="1480640"/>
            <a:ext cx="723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&lt;Main results including all training, validation and testing, key findings&gt;</a:t>
            </a:r>
          </a:p>
        </p:txBody>
      </p:sp>
    </p:spTree>
    <p:extLst>
      <p:ext uri="{BB962C8B-B14F-4D97-AF65-F5344CB8AC3E}">
        <p14:creationId xmlns:p14="http://schemas.microsoft.com/office/powerpoint/2010/main" val="159342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0946" y="331888"/>
            <a:ext cx="9039446" cy="45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0171" tIns="40085" rIns="80171" bIns="40085" anchor="t">
            <a:spAutoFit/>
          </a:bodyPr>
          <a:lstStyle/>
          <a:p>
            <a:pPr defTabSz="1218508">
              <a:spcBef>
                <a:spcPct val="20000"/>
              </a:spcBef>
              <a:defRPr/>
            </a:pPr>
            <a:r>
              <a:rPr lang="en-US" altLang="en-US" sz="2399" b="1" dirty="0">
                <a:solidFill>
                  <a:srgbClr val="C00000"/>
                </a:solidFill>
                <a:latin typeface="微软雅黑"/>
                <a:ea typeface="微软雅黑"/>
              </a:rPr>
              <a:t>Innovation &amp; Technical Contribution</a:t>
            </a:r>
            <a:endParaRPr lang="en-US" altLang="zh-CN" sz="2399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6CE96-651B-40CF-B435-2A254C2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09" y="6340382"/>
            <a:ext cx="1422464" cy="3723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D48095-63B6-4810-8865-58AF6D60B00A}"/>
              </a:ext>
            </a:extLst>
          </p:cNvPr>
          <p:cNvSpPr txBox="1"/>
          <p:nvPr/>
        </p:nvSpPr>
        <p:spPr>
          <a:xfrm>
            <a:off x="1124824" y="1328331"/>
            <a:ext cx="10670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&lt;What is technically innovative, what is the advantage/strength of your approach among other methods&gt;</a:t>
            </a:r>
          </a:p>
        </p:txBody>
      </p:sp>
    </p:spTree>
    <p:extLst>
      <p:ext uri="{BB962C8B-B14F-4D97-AF65-F5344CB8AC3E}">
        <p14:creationId xmlns:p14="http://schemas.microsoft.com/office/powerpoint/2010/main" val="3397852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0946" y="331888"/>
            <a:ext cx="9039446" cy="45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0171" tIns="40085" rIns="80171" bIns="40085" anchor="t">
            <a:spAutoFit/>
          </a:bodyPr>
          <a:lstStyle/>
          <a:p>
            <a:pPr defTabSz="1218508">
              <a:spcBef>
                <a:spcPct val="20000"/>
              </a:spcBef>
              <a:defRPr/>
            </a:pPr>
            <a:r>
              <a:rPr lang="en-US" altLang="en-US" sz="2399" b="1" dirty="0">
                <a:solidFill>
                  <a:srgbClr val="C00000"/>
                </a:solidFill>
                <a:latin typeface="微软雅黑"/>
                <a:ea typeface="微软雅黑"/>
              </a:rPr>
              <a:t>Interpretability &amp; Key Insights</a:t>
            </a:r>
            <a:endParaRPr lang="en-US" altLang="zh-CN" sz="2399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6CE96-651B-40CF-B435-2A254C2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09" y="6340382"/>
            <a:ext cx="1422464" cy="3723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D48095-63B6-4810-8865-58AF6D60B00A}"/>
              </a:ext>
            </a:extLst>
          </p:cNvPr>
          <p:cNvSpPr txBox="1"/>
          <p:nvPr/>
        </p:nvSpPr>
        <p:spPr>
          <a:xfrm>
            <a:off x="2754676" y="1328331"/>
            <a:ext cx="5501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&lt;Why the method works, lessons learned, limitations&gt;</a:t>
            </a:r>
          </a:p>
        </p:txBody>
      </p:sp>
    </p:spTree>
    <p:extLst>
      <p:ext uri="{BB962C8B-B14F-4D97-AF65-F5344CB8AC3E}">
        <p14:creationId xmlns:p14="http://schemas.microsoft.com/office/powerpoint/2010/main" val="3967980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0946" y="331888"/>
            <a:ext cx="9039446" cy="45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0171" tIns="40085" rIns="80171" bIns="40085" anchor="t">
            <a:spAutoFit/>
          </a:bodyPr>
          <a:lstStyle/>
          <a:p>
            <a:pPr defTabSz="1218508">
              <a:spcBef>
                <a:spcPct val="20000"/>
              </a:spcBef>
              <a:defRPr/>
            </a:pPr>
            <a:r>
              <a:rPr lang="en-US" altLang="en-US" sz="2399" b="1" dirty="0">
                <a:solidFill>
                  <a:srgbClr val="C00000"/>
                </a:solidFill>
                <a:latin typeface="微软雅黑"/>
                <a:ea typeface="微软雅黑"/>
              </a:rPr>
              <a:t>Final Summary</a:t>
            </a:r>
            <a:endParaRPr lang="en-US" altLang="zh-CN" sz="2399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6CE96-651B-40CF-B435-2A254C2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09" y="6340382"/>
            <a:ext cx="1422464" cy="3723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D48095-63B6-4810-8865-58AF6D60B00A}"/>
              </a:ext>
            </a:extLst>
          </p:cNvPr>
          <p:cNvSpPr txBox="1"/>
          <p:nvPr/>
        </p:nvSpPr>
        <p:spPr>
          <a:xfrm>
            <a:off x="3401260" y="1328331"/>
            <a:ext cx="3833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&lt;Main achievements and takeaways&gt;</a:t>
            </a:r>
          </a:p>
        </p:txBody>
      </p:sp>
    </p:spTree>
    <p:extLst>
      <p:ext uri="{BB962C8B-B14F-4D97-AF65-F5344CB8AC3E}">
        <p14:creationId xmlns:p14="http://schemas.microsoft.com/office/powerpoint/2010/main" val="3641856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3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6.xml><?xml version="1.0" encoding="utf-8"?>
<a:theme xmlns:a="http://schemas.openxmlformats.org/drawingml/2006/main" name="2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BG主打胶片模版（浅色）ch.pptx" id="{2C047A74-5603-45F8-9E34-AEADE3F1313D}" vid="{79C2D6DB-EE0B-4E26-829E-433CDB38D92A}"/>
    </a:ext>
  </a:extLst>
</a:theme>
</file>

<file path=ppt/theme/theme7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22522</TotalTime>
  <Words>255</Words>
  <Application>Microsoft Office PowerPoint</Application>
  <PresentationFormat>Custom</PresentationFormat>
  <Paragraphs>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Microsoft YaHei</vt:lpstr>
      <vt:lpstr>Microsoft YaHei</vt:lpstr>
      <vt:lpstr>Arial</vt:lpstr>
      <vt:lpstr>Calibri</vt:lpstr>
      <vt:lpstr>Calibri Light</vt:lpstr>
      <vt:lpstr>封面页_图片版 </vt:lpstr>
      <vt:lpstr>目录页</vt:lpstr>
      <vt:lpstr>章节页</vt:lpstr>
      <vt:lpstr>结束页</vt:lpstr>
      <vt:lpstr>36_章节页</vt:lpstr>
      <vt:lpstr>2_内容Copytext </vt:lpstr>
      <vt:lpstr>Chart page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xiongcheng (E)</dc:creator>
  <cp:lastModifiedBy>Cagla Odabasi Ozer</cp:lastModifiedBy>
  <cp:revision>210</cp:revision>
  <dcterms:created xsi:type="dcterms:W3CDTF">2020-08-28T08:44:19Z</dcterms:created>
  <dcterms:modified xsi:type="dcterms:W3CDTF">2026-09-15T12:14:21Z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1751698726</vt:lpwstr>
  </property>
</Properties>
</file>